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110" autoAdjust="0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52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0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피지컬 </a:t>
            </a:r>
            <a:r>
              <a:rPr lang="en-US" altLang="ko-KR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AI Agent </a:t>
            </a:r>
            <a:r>
              <a:rPr lang="en-US" sz="130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활용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ClaimPrecedent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지급심사 담당자를 위한  유사 분쟁사례 기반 지급판단 보조 AI Agent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7635240" y="35661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2023086025  문예준   ·   2026. 07.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76656"/>
          </a:xfrm>
          <a:prstGeom prst="roundRect">
            <a:avLst>
              <a:gd name="adj" fmla="val 6757"/>
            </a:avLst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58368" y="11978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34640" y="1051560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‘지급심사’인가  ·  산업 구조와 업무 특성  ·  현재 AI 도입 현황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8229600" cy="676656"/>
          </a:xfrm>
          <a:prstGeom prst="roundRect">
            <a:avLst>
              <a:gd name="adj" fmla="val 6757"/>
            </a:avLst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58368" y="20025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58368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선정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1856232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10개 → MVP 선정  ·  ClaimPrecedent 개요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60904"/>
            <a:ext cx="8229600" cy="676656"/>
          </a:xfrm>
          <a:prstGeom prst="roundRect">
            <a:avLst>
              <a:gd name="adj" fmla="val 6757"/>
            </a:avLst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58368" y="28072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660904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4640" y="2660904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흐름(자율 ReAct + 가드레일)  ·  시스템 아키텍처  ·  Human-in-the-loop  ·  </a:t>
            </a:r>
            <a:r>
              <a:rPr lang="ko-KR" alt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　　　　</a:t>
            </a:r>
            <a:r>
              <a:rPr lang="en-US" sz="110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요소와 통제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8229600" cy="676656"/>
          </a:xfrm>
          <a:prstGeom prst="roundRect">
            <a:avLst>
              <a:gd name="adj" fmla="val 6757"/>
            </a:avLst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58368" y="3611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836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46557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실측과 개선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34640" y="3465576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 6종 실측 결과  ·  실측 기반 개선 — 조기 </a:t>
            </a:r>
            <a:r>
              <a:rPr lang="en-US" sz="110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기권</a:t>
            </a: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가드레일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70248"/>
            <a:ext cx="8229600" cy="676656"/>
          </a:xfrm>
          <a:prstGeom prst="roundRect">
            <a:avLst>
              <a:gd name="adj" fmla="val 6757"/>
            </a:avLst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58368" y="44165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8368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427024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· 결론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834640" y="4270248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실행 기반 시나리오 3종(정상 인용 / 오류 방어 / 정직한 기권)  ·  기대 효과와 한계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‘지급심사’인가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선정 배경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지급심사는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 대체되지 않는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‘판단 업무’다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손해사정 결과와 약관을 대조해 지급 여부·금액을 확정하는 단계. 표준약관·특별약관만으로 해석되지 않는 애매한 청구(치료·미용 목적 혼재, 후유장해 등급 등)가 반복 발생하며, 이 애매함이 분쟁조정 신청으로 직결된다.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325880"/>
            <a:ext cx="384048" cy="384048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173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12664" y="1289304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이해가 충돌하는 지점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12663" y="1545336"/>
            <a:ext cx="34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계약자와 보험사의 이해가 직접 충돌하고, 심사역의 경험·판례 지식에 의존하는 판단이 필요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00600" y="2423160"/>
            <a:ext cx="384048" cy="384048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1460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12664" y="2386584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산업의 실제 흐름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12664" y="2642616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주요 보험사가 클레임 영역에 에이전틱 AI를 이미 도입 — 막연한 상상이 아닌 현재 진행형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00600" y="3520440"/>
            <a:ext cx="384048" cy="384048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61188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12664" y="3483864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가능한 데이터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312664" y="3739896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</a:t>
            </a:r>
            <a:r>
              <a:rPr lang="ko-KR" alt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</a:t>
            </a: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</a:t>
            </a:r>
            <a:r>
              <a:rPr lang="ko-KR" alt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</a:t>
            </a: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분쟁조정사례 201건(보험 160건) 크롤링 확보 → 설계에 그치지 않는 RAG 프로토타입 시연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구조와 업무 특성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가치사슬에서 지급심사의 위치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32688" cy="658368"/>
          </a:xfrm>
          <a:prstGeom prst="roundRect">
            <a:avLst>
              <a:gd name="adj" fmla="val 6944"/>
            </a:avLst>
          </a:prstGeom>
          <a:solidFill>
            <a:srgbClr val="EEF4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상품개발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62456" y="1389888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99616" y="1325880"/>
            <a:ext cx="932688" cy="658368"/>
          </a:xfrm>
          <a:prstGeom prst="roundRect">
            <a:avLst>
              <a:gd name="adj" fmla="val 6944"/>
            </a:avLst>
          </a:prstGeom>
          <a:solidFill>
            <a:srgbClr val="EEF4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499616" y="132588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언더라이팅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04872" y="1389888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42032" y="1325880"/>
            <a:ext cx="932688" cy="658368"/>
          </a:xfrm>
          <a:prstGeom prst="roundRect">
            <a:avLst>
              <a:gd name="adj" fmla="val 6944"/>
            </a:avLst>
          </a:prstGeom>
          <a:solidFill>
            <a:srgbClr val="EEF4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42032" y="132588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계약관리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47288" y="1389888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84448" y="1325880"/>
            <a:ext cx="932688" cy="658368"/>
          </a:xfrm>
          <a:prstGeom prst="roundRect">
            <a:avLst>
              <a:gd name="adj" fmla="val 6944"/>
            </a:avLst>
          </a:prstGeom>
          <a:solidFill>
            <a:srgbClr val="EEF4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584448" y="132588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사고접수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(FNOL)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9704" y="1389888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325880"/>
            <a:ext cx="932688" cy="658368"/>
          </a:xfrm>
          <a:prstGeom prst="roundRect">
            <a:avLst>
              <a:gd name="adj" fmla="val 6944"/>
            </a:avLst>
          </a:prstGeom>
          <a:solidFill>
            <a:srgbClr val="EEF4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132588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손해사정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32120" y="1389888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1325880"/>
            <a:ext cx="932688" cy="658368"/>
          </a:xfrm>
          <a:prstGeom prst="roundRect">
            <a:avLst>
              <a:gd name="adj" fmla="val 694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669280" y="132588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지급심사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74536" y="1389888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11696" y="1325880"/>
            <a:ext cx="932688" cy="658368"/>
          </a:xfrm>
          <a:prstGeom prst="roundRect">
            <a:avLst>
              <a:gd name="adj" fmla="val 6944"/>
            </a:avLst>
          </a:prstGeom>
          <a:solidFill>
            <a:srgbClr val="EEF4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711696" y="132588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 / 거절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16952" y="1389888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54112" y="1325880"/>
            <a:ext cx="932688" cy="658368"/>
          </a:xfrm>
          <a:prstGeom prst="roundRect">
            <a:avLst>
              <a:gd name="adj" fmla="val 6944"/>
            </a:avLst>
          </a:prstGeom>
          <a:solidFill>
            <a:srgbClr val="EEF4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754112" y="132588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분쟁조정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거절·감액 시 금융분쟁조정위원회 등 이의신청 절차로 연결  ·  개인정보보호법·보험업법(설명의무) 등 규제 환경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2606040"/>
            <a:ext cx="26517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953512"/>
            <a:ext cx="219456" cy="21945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8580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업무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85800" y="37764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청구서류 접수·등록, 소액·정형 청구의 기계적 심사, 문의 응대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246120" y="2606040"/>
            <a:ext cx="26517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3474720" y="2834640"/>
            <a:ext cx="457200" cy="45720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2953512"/>
            <a:ext cx="219456" cy="21945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47472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중심 업무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3474720" y="37764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진단서·확인서·약관·과거 이력 등 방대한 비정형 문서의 대조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035040" y="2606040"/>
            <a:ext cx="2651760" cy="20574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6263640" y="2834640"/>
            <a:ext cx="457200" cy="457200"/>
          </a:xfrm>
          <a:prstGeom prst="ellipse">
            <a:avLst/>
          </a:prstGeom>
          <a:solidFill>
            <a:srgbClr val="2B3A7A"/>
          </a:solidFill>
          <a:ln w="9525">
            <a:solidFill>
              <a:srgbClr val="3D4E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953512"/>
            <a:ext cx="219456" cy="219456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26364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필요 업무</a:t>
            </a:r>
            <a:endParaRPr lang="en-US" sz="1500" dirty="0"/>
          </a:p>
        </p:txBody>
      </p:sp>
      <p:sp>
        <p:nvSpPr>
          <p:cNvPr id="42" name="Text 37"/>
          <p:cNvSpPr/>
          <p:nvPr/>
        </p:nvSpPr>
        <p:spPr>
          <a:xfrm>
            <a:off x="6263640" y="37764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 목적·범위 해석이 필요한 애매한 청구의 최종 결정 — 본 Agent의 타깃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AI 도입 현황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클레임(보험금 지급) 영역의 에이전틱 AI는 이미 산업의 흐름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306324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1399032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Allianz  ‘Project Nemo’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9464" y="141732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569464" y="141732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94767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→ 1일 이내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" y="251460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특화 에이전트 협업으로 자연재해 소액 클레임 자동화. 감사 에이전트가 근거를 사람에게 전달하는 HITL 구조.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370332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— 저복잡도·소액에 최적화, 고난도 판단은 사람 전담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3552" y="1234440"/>
            <a:ext cx="2679192" cy="306324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1399032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Lemonade  ‘AI Jim’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85816" y="141732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85816" y="141732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94767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FNOL 96% 자동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474720" y="251460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AI가 사고 접수부터 정책 대조·자동 승인까지. 전체 클레임의 55%를 완전 자동 처리.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0" y="370332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— 애매한 클레임은 사람 이관, 설명가능성 과제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9904" y="1234440"/>
            <a:ext cx="2679192" cy="306324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91072" y="1399032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손해보험사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02168" y="141732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202168" y="141732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91072" y="194767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 적발 62억원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291072" y="251460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삼성화재 AI 의료심사, DB손보 대고객 에이전트, 현대해상 ML 사기탐지(연 329건 적발) 등 개별 구축 확산.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91072" y="370332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— 업계 표준 부재, 생성형 AI 악용 사기와 ‘군비 경쟁’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패턴 — 정형·소액은 자동화, 애매하고 판단이 필요한 건은 여전히 사람의 영역  →  그 지점을 ‘보조’하는 것이 본 과제의 기회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후보 10개 → MVP 선정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필요성과 도입 장벽을 4축 정량 스코어링(각 1~5점 · 20점 만점)으로 수치화한 배제 논리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709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08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264" y="13075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결정형 · 고위험   </a:t>
            </a: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언더라이팅 / 사기탐지 / 손해사정 견적 / 계리   (10~14점)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69264" y="16002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가격·보상에 직결 → 공정성 검증·감독당국 인가 선행 필요, 데이터 확보도 곤란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457200" y="2130552"/>
            <a:ext cx="4709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40487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9264" y="220370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자동화   </a:t>
            </a: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FNOL 서류심사 / 컴플라이언스 보고   (10~11점)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69264" y="24963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 대조 수준 — ‘판단이 필요한 업무’ 요건에 약함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457200" y="3026664"/>
            <a:ext cx="4709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30098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9264" y="309981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정보형   </a:t>
            </a: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약관·내규 챗봇 / CS 챗봇   (12~13점)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969264" y="339242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판단에 미개입, 커머디티 기술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457200" y="3922776"/>
            <a:ext cx="4709160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19709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9264" y="39959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보조   </a:t>
            </a:r>
            <a:r>
              <a:rPr lang="en-US" sz="105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지급판단 보조 ✓ 18점  </a:t>
            </a: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 이의신청 대응 16점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969264" y="428853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이의신청은 소비자 직접 노출 문서라 </a:t>
            </a:r>
            <a:r>
              <a:rPr lang="en-US" sz="9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sz="9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5440680" y="1234440"/>
            <a:ext cx="3246120" cy="3493008"/>
          </a:xfrm>
          <a:prstGeom prst="roundRect">
            <a:avLst>
              <a:gd name="adj" fmla="val 1690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5696712" y="1463040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— 지급판단 보조 Agent</a:t>
            </a:r>
            <a:endParaRPr lang="en-US" sz="15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1984248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952744" y="1810512"/>
            <a:ext cx="2478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4축 스코어링 종합 1위(18/20점) — 규칙으로 대체 불가한 판단 업무 그 자체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2647188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952744" y="2523744"/>
            <a:ext cx="2478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Agent는 유사 판례 제시까지만 — 최종 결정권은 심사역에게 (공정성 리스크 원천 회피)</a:t>
            </a:r>
            <a:endParaRPr lang="en-US" sz="10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3415284"/>
            <a:ext cx="164592" cy="16459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952744" y="3236976"/>
            <a:ext cx="2478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결과물이 소비자에게 비노출, 내부 참고자료에 한정 → 동일 그룹 내 최저 위험</a:t>
            </a:r>
            <a:endParaRPr lang="en-US" sz="10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4023360"/>
            <a:ext cx="164592" cy="16459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952744" y="3845052"/>
            <a:ext cx="2478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금감원 공개 분쟁조정사례로 데이터 접근성 확보 → 실증 가능</a:t>
            </a:r>
            <a:endParaRPr lang="en-US" sz="1050" dirty="0"/>
          </a:p>
        </p:txBody>
      </p:sp>
      <p:sp>
        <p:nvSpPr>
          <p:cNvPr id="30" name="Text 20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1B9706E-48C4-AB2C-7A54-29054F9C3644}"/>
              </a:ext>
            </a:extLst>
          </p:cNvPr>
          <p:cNvSpPr/>
          <p:nvPr/>
        </p:nvSpPr>
        <p:spPr>
          <a:xfrm>
            <a:off x="1802423" y="4023360"/>
            <a:ext cx="1375996" cy="237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ClaimPrecedent 개요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누가, 무엇을 넣고, 무엇을 받는가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41648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76656" y="1453896"/>
            <a:ext cx="420624" cy="420624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563624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47218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사용자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25296" y="1801368"/>
            <a:ext cx="3102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보험사 지급심사 담당자(심사역) — 실손·질병상해 등 보장범위 해석이 애매한 케이스를 다루는 인력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645152" y="1234440"/>
            <a:ext cx="4041648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864608" y="1453896"/>
            <a:ext cx="420624" cy="420624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56362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147218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13248" y="1874520"/>
            <a:ext cx="3035808" cy="607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요약(질병/치료명·상품유형·쟁점)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자유서술 질의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457200" y="3044952"/>
            <a:ext cx="4041648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76656" y="3264408"/>
            <a:ext cx="420624" cy="420624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37413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25296" y="328269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25296" y="3515165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판례 리스트(사례번호·쟁점·유사도) / 판단근거 요약 / 참고의견 / 근거강도 / 외부자료 구분 표시 / HITL 플래그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645152" y="3044952"/>
            <a:ext cx="4041648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864608" y="3264408"/>
            <a:ext cx="420624" cy="420624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37413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13248" y="328269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13248" y="3515165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산출물은 항상 ‘참고자료’ —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지급결정과 책임은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심사역·보험사에</a:t>
            </a:r>
            <a:r>
              <a:rPr lang="en-US" sz="108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8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 — 자율 ReAct </a:t>
            </a:r>
            <a:r>
              <a:rPr lang="en-US" sz="26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</a:t>
            </a:r>
            <a:r>
              <a:rPr lang="ko-KR" alt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</a:t>
            </a:r>
            <a:r>
              <a:rPr lang="en-US" sz="26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가드레일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tool 호출 순서·횟수를 자율 결정(최대 8회)  ·  risk → hitl → log 는 LLM 재량 밖의 강제 노드  ·  인용 사례는 서버 측 독립 재검증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2F0B5E11-15EE-E171-1D2C-8686179DC9FE}"/>
              </a:ext>
            </a:extLst>
          </p:cNvPr>
          <p:cNvGrpSpPr/>
          <p:nvPr/>
        </p:nvGrpSpPr>
        <p:grpSpPr>
          <a:xfrm>
            <a:off x="365760" y="1078992"/>
            <a:ext cx="8412480" cy="3465576"/>
            <a:chOff x="365760" y="914400"/>
            <a:chExt cx="8412480" cy="3465576"/>
          </a:xfrm>
        </p:grpSpPr>
        <p:sp>
          <p:nvSpPr>
            <p:cNvPr id="71" name="Shape 1">
              <a:extLst>
                <a:ext uri="{FF2B5EF4-FFF2-40B4-BE49-F238E27FC236}">
                  <a16:creationId xmlns:a16="http://schemas.microsoft.com/office/drawing/2014/main" id="{FE7364B7-8286-7CE0-160A-29BB60D8C083}"/>
                </a:ext>
              </a:extLst>
            </p:cNvPr>
            <p:cNvSpPr/>
            <p:nvPr/>
          </p:nvSpPr>
          <p:spPr>
            <a:xfrm>
              <a:off x="365760" y="1874520"/>
              <a:ext cx="1097280" cy="731520"/>
            </a:xfrm>
            <a:prstGeom prst="roundRect">
              <a:avLst>
                <a:gd name="adj" fmla="val 6250"/>
              </a:avLst>
            </a:prstGeom>
            <a:solidFill>
              <a:srgbClr val="EEF4FE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Text 2">
              <a:extLst>
                <a:ext uri="{FF2B5EF4-FFF2-40B4-BE49-F238E27FC236}">
                  <a16:creationId xmlns:a16="http://schemas.microsoft.com/office/drawing/2014/main" id="{AE2ED02F-133E-219F-8ACF-11B432FE5E15}"/>
                </a:ext>
              </a:extLst>
            </p:cNvPr>
            <p:cNvSpPr/>
            <p:nvPr/>
          </p:nvSpPr>
          <p:spPr>
            <a:xfrm>
              <a:off x="365760" y="1874520"/>
              <a:ext cx="10972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E276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① 케이스 입력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rgbClr val="1E276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(심사역)</a:t>
              </a:r>
              <a:endParaRPr lang="en-US" sz="950" dirty="0"/>
            </a:p>
          </p:txBody>
        </p:sp>
        <p:sp>
          <p:nvSpPr>
            <p:cNvPr id="73" name="Shape 3">
              <a:extLst>
                <a:ext uri="{FF2B5EF4-FFF2-40B4-BE49-F238E27FC236}">
                  <a16:creationId xmlns:a16="http://schemas.microsoft.com/office/drawing/2014/main" id="{CFF93081-EB37-652E-7373-4E4CAAA3A264}"/>
                </a:ext>
              </a:extLst>
            </p:cNvPr>
            <p:cNvSpPr/>
            <p:nvPr/>
          </p:nvSpPr>
          <p:spPr>
            <a:xfrm>
              <a:off x="1463040" y="2240280"/>
              <a:ext cx="219456" cy="0"/>
            </a:xfrm>
            <a:prstGeom prst="line">
              <a:avLst/>
            </a:prstGeom>
            <a:noFill/>
            <a:ln w="19050">
              <a:solidFill>
                <a:srgbClr val="5B647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Shape 4">
              <a:extLst>
                <a:ext uri="{FF2B5EF4-FFF2-40B4-BE49-F238E27FC236}">
                  <a16:creationId xmlns:a16="http://schemas.microsoft.com/office/drawing/2014/main" id="{79276783-0016-5981-D174-D574A9149A81}"/>
                </a:ext>
              </a:extLst>
            </p:cNvPr>
            <p:cNvSpPr/>
            <p:nvPr/>
          </p:nvSpPr>
          <p:spPr>
            <a:xfrm>
              <a:off x="1700784" y="914400"/>
              <a:ext cx="3611880" cy="2926080"/>
            </a:xfrm>
            <a:prstGeom prst="roundRect">
              <a:avLst>
                <a:gd name="adj" fmla="val 1563"/>
              </a:avLst>
            </a:prstGeom>
            <a:solidFill>
              <a:srgbClr val="E6F5F1"/>
            </a:solidFill>
            <a:ln w="12700">
              <a:solidFill>
                <a:srgbClr val="0E7C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Text 5">
              <a:extLst>
                <a:ext uri="{FF2B5EF4-FFF2-40B4-BE49-F238E27FC236}">
                  <a16:creationId xmlns:a16="http://schemas.microsoft.com/office/drawing/2014/main" id="{0CFC7A97-EE13-42F0-840C-D16463E9BFA8}"/>
                </a:ext>
              </a:extLst>
            </p:cNvPr>
            <p:cNvSpPr/>
            <p:nvPr/>
          </p:nvSpPr>
          <p:spPr>
            <a:xfrm>
              <a:off x="1828800" y="987552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7C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② react — 자율 Tool-calling ReAct 루프  (호출 순서·횟수는 LLM이 결정)</a:t>
              </a:r>
              <a:endParaRPr lang="en-US" sz="900" dirty="0"/>
            </a:p>
          </p:txBody>
        </p:sp>
        <p:sp>
          <p:nvSpPr>
            <p:cNvPr id="76" name="Shape 6">
              <a:extLst>
                <a:ext uri="{FF2B5EF4-FFF2-40B4-BE49-F238E27FC236}">
                  <a16:creationId xmlns:a16="http://schemas.microsoft.com/office/drawing/2014/main" id="{4CBF6F46-3E0D-B891-4ACE-9695D77039FC}"/>
                </a:ext>
              </a:extLst>
            </p:cNvPr>
            <p:cNvSpPr/>
            <p:nvPr/>
          </p:nvSpPr>
          <p:spPr>
            <a:xfrm>
              <a:off x="1828800" y="1316736"/>
              <a:ext cx="1664208" cy="475488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2700">
              <a:solidFill>
                <a:srgbClr val="0E7C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 7">
              <a:extLst>
                <a:ext uri="{FF2B5EF4-FFF2-40B4-BE49-F238E27FC236}">
                  <a16:creationId xmlns:a16="http://schemas.microsoft.com/office/drawing/2014/main" id="{DADCA91E-A3AB-845E-10EB-962C643518DA}"/>
                </a:ext>
              </a:extLst>
            </p:cNvPr>
            <p:cNvSpPr/>
            <p:nvPr/>
          </p:nvSpPr>
          <p:spPr>
            <a:xfrm>
              <a:off x="1828800" y="1316736"/>
              <a:ext cx="166420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E7C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vector_search_tool
</a:t>
              </a:r>
              <a:r>
                <a:rPr lang="en-US" sz="700" dirty="0">
                  <a:solidFill>
                    <a:srgbClr val="5B647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pgvector 유사사례 검색</a:t>
              </a:r>
              <a:endParaRPr lang="en-US" sz="850" dirty="0"/>
            </a:p>
          </p:txBody>
        </p:sp>
        <p:sp>
          <p:nvSpPr>
            <p:cNvPr id="78" name="Shape 8">
              <a:extLst>
                <a:ext uri="{FF2B5EF4-FFF2-40B4-BE49-F238E27FC236}">
                  <a16:creationId xmlns:a16="http://schemas.microsoft.com/office/drawing/2014/main" id="{A1FC1B2A-4153-07AE-0741-ECA9A010DDFA}"/>
                </a:ext>
              </a:extLst>
            </p:cNvPr>
            <p:cNvSpPr/>
            <p:nvPr/>
          </p:nvSpPr>
          <p:spPr>
            <a:xfrm>
              <a:off x="3584448" y="1316736"/>
              <a:ext cx="1627632" cy="475488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2700">
              <a:solidFill>
                <a:srgbClr val="0E7C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Text 9">
              <a:extLst>
                <a:ext uri="{FF2B5EF4-FFF2-40B4-BE49-F238E27FC236}">
                  <a16:creationId xmlns:a16="http://schemas.microsoft.com/office/drawing/2014/main" id="{1262B103-B846-FBE8-38E4-1F90F96CC9AE}"/>
                </a:ext>
              </a:extLst>
            </p:cNvPr>
            <p:cNvSpPr/>
            <p:nvPr/>
          </p:nvSpPr>
          <p:spPr>
            <a:xfrm>
              <a:off x="3584448" y="1316736"/>
              <a:ext cx="162763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E7C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relevance_reranker
</a:t>
              </a:r>
              <a:r>
                <a:rPr lang="en-US" sz="700" dirty="0">
                  <a:solidFill>
                    <a:srgbClr val="5B647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CRAG 관련성 재검증</a:t>
              </a:r>
              <a:endParaRPr lang="en-US" sz="850" dirty="0"/>
            </a:p>
          </p:txBody>
        </p:sp>
        <p:sp>
          <p:nvSpPr>
            <p:cNvPr id="80" name="Shape 10">
              <a:extLst>
                <a:ext uri="{FF2B5EF4-FFF2-40B4-BE49-F238E27FC236}">
                  <a16:creationId xmlns:a16="http://schemas.microsoft.com/office/drawing/2014/main" id="{8CE919B2-3FA7-FB26-A74F-C34B23112347}"/>
                </a:ext>
              </a:extLst>
            </p:cNvPr>
            <p:cNvSpPr/>
            <p:nvPr/>
          </p:nvSpPr>
          <p:spPr>
            <a:xfrm>
              <a:off x="1828800" y="1865376"/>
              <a:ext cx="1664208" cy="475488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2700">
              <a:solidFill>
                <a:srgbClr val="0E7C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Text 11">
              <a:extLst>
                <a:ext uri="{FF2B5EF4-FFF2-40B4-BE49-F238E27FC236}">
                  <a16:creationId xmlns:a16="http://schemas.microsoft.com/office/drawing/2014/main" id="{2819CB60-FAE3-3E25-E29D-DA422960B062}"/>
                </a:ext>
              </a:extLst>
            </p:cNvPr>
            <p:cNvSpPr/>
            <p:nvPr/>
          </p:nvSpPr>
          <p:spPr>
            <a:xfrm>
              <a:off x="1828800" y="1865376"/>
              <a:ext cx="166420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E7C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case_id_validator
</a:t>
              </a:r>
              <a:r>
                <a:rPr lang="en-US" sz="700" dirty="0">
                  <a:solidFill>
                    <a:srgbClr val="5B647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인용 사례 이중검증</a:t>
              </a:r>
              <a:endParaRPr lang="en-US" sz="850" dirty="0"/>
            </a:p>
          </p:txBody>
        </p:sp>
        <p:sp>
          <p:nvSpPr>
            <p:cNvPr id="82" name="Shape 12">
              <a:extLst>
                <a:ext uri="{FF2B5EF4-FFF2-40B4-BE49-F238E27FC236}">
                  <a16:creationId xmlns:a16="http://schemas.microsoft.com/office/drawing/2014/main" id="{53F396CB-5019-2393-F02B-E4698ED39B9B}"/>
                </a:ext>
              </a:extLst>
            </p:cNvPr>
            <p:cNvSpPr/>
            <p:nvPr/>
          </p:nvSpPr>
          <p:spPr>
            <a:xfrm>
              <a:off x="3584448" y="1865376"/>
              <a:ext cx="1627632" cy="475488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2700">
              <a:solidFill>
                <a:srgbClr val="0E7C6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Text 13">
              <a:extLst>
                <a:ext uri="{FF2B5EF4-FFF2-40B4-BE49-F238E27FC236}">
                  <a16:creationId xmlns:a16="http://schemas.microsoft.com/office/drawing/2014/main" id="{FE34C23C-3C76-B8B6-4200-22E1C5C5AA58}"/>
                </a:ext>
              </a:extLst>
            </p:cNvPr>
            <p:cNvSpPr/>
            <p:nvPr/>
          </p:nvSpPr>
          <p:spPr>
            <a:xfrm>
              <a:off x="3584448" y="1865376"/>
              <a:ext cx="162763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E7C6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evidence_strength_scorer
</a:t>
              </a:r>
              <a:r>
                <a:rPr lang="en-US" sz="700" dirty="0">
                  <a:solidFill>
                    <a:srgbClr val="5B647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근거강도 산정</a:t>
              </a:r>
              <a:endParaRPr lang="en-US" sz="850" dirty="0"/>
            </a:p>
          </p:txBody>
        </p:sp>
        <p:sp>
          <p:nvSpPr>
            <p:cNvPr id="84" name="Shape 14">
              <a:extLst>
                <a:ext uri="{FF2B5EF4-FFF2-40B4-BE49-F238E27FC236}">
                  <a16:creationId xmlns:a16="http://schemas.microsoft.com/office/drawing/2014/main" id="{EC6880FA-4288-7379-A1D6-D85FBC83FD51}"/>
                </a:ext>
              </a:extLst>
            </p:cNvPr>
            <p:cNvSpPr/>
            <p:nvPr/>
          </p:nvSpPr>
          <p:spPr>
            <a:xfrm>
              <a:off x="1828800" y="2414016"/>
              <a:ext cx="3383280" cy="457200"/>
            </a:xfrm>
            <a:prstGeom prst="roundRect">
              <a:avLst>
                <a:gd name="adj" fmla="val 10000"/>
              </a:avLst>
            </a:prstGeom>
            <a:solidFill>
              <a:srgbClr val="FDF8E2"/>
            </a:solidFill>
            <a:ln w="12700">
              <a:solidFill>
                <a:srgbClr val="9A7B0A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Text 15">
              <a:extLst>
                <a:ext uri="{FF2B5EF4-FFF2-40B4-BE49-F238E27FC236}">
                  <a16:creationId xmlns:a16="http://schemas.microsoft.com/office/drawing/2014/main" id="{05EA17B5-1ACC-88CC-5745-3B97877E379D}"/>
                </a:ext>
              </a:extLst>
            </p:cNvPr>
            <p:cNvSpPr/>
            <p:nvPr/>
          </p:nvSpPr>
          <p:spPr>
            <a:xfrm>
              <a:off x="1828800" y="2414016"/>
              <a:ext cx="3383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9A7B0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web_search_tool  (외부 · 신뢰도메인 제한)
</a:t>
              </a:r>
              <a:r>
                <a:rPr lang="en-US" sz="700" dirty="0">
                  <a:solidFill>
                    <a:srgbClr val="5B647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fss.or.kr / law.go.kr / kiri.or.kr — 근거강도 미반영</a:t>
              </a:r>
              <a:endParaRPr lang="en-US" sz="850" dirty="0"/>
            </a:p>
          </p:txBody>
        </p:sp>
        <p:sp>
          <p:nvSpPr>
            <p:cNvPr id="86" name="Shape 16">
              <a:extLst>
                <a:ext uri="{FF2B5EF4-FFF2-40B4-BE49-F238E27FC236}">
                  <a16:creationId xmlns:a16="http://schemas.microsoft.com/office/drawing/2014/main" id="{E9E464CB-A793-CEBF-1196-7955FFBC4A40}"/>
                </a:ext>
              </a:extLst>
            </p:cNvPr>
            <p:cNvSpPr/>
            <p:nvPr/>
          </p:nvSpPr>
          <p:spPr>
            <a:xfrm>
              <a:off x="1828800" y="2944368"/>
              <a:ext cx="3383280" cy="457200"/>
            </a:xfrm>
            <a:prstGeom prst="roundRect">
              <a:avLst>
                <a:gd name="adj" fmla="val 10000"/>
              </a:avLst>
            </a:prstGeom>
            <a:solidFill>
              <a:srgbClr val="FBEAE7"/>
            </a:solidFill>
            <a:ln w="12700">
              <a:solidFill>
                <a:srgbClr val="B3402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Text 17">
              <a:extLst>
                <a:ext uri="{FF2B5EF4-FFF2-40B4-BE49-F238E27FC236}">
                  <a16:creationId xmlns:a16="http://schemas.microsoft.com/office/drawing/2014/main" id="{D9D6A197-99F9-64BB-6A0D-EED3E0450A27}"/>
                </a:ext>
              </a:extLst>
            </p:cNvPr>
            <p:cNvSpPr/>
            <p:nvPr/>
          </p:nvSpPr>
          <p:spPr>
            <a:xfrm>
              <a:off x="1828800" y="2944368"/>
              <a:ext cx="3383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B3402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finalize_opinion
</a:t>
              </a:r>
              <a:r>
                <a:rPr lang="en-US" sz="700" dirty="0">
                  <a:solidFill>
                    <a:srgbClr val="5B647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판단근거·추천·인용사례 제출 후 루프 종료</a:t>
              </a:r>
              <a:endParaRPr lang="en-US" sz="850" dirty="0"/>
            </a:p>
          </p:txBody>
        </p:sp>
        <p:sp>
          <p:nvSpPr>
            <p:cNvPr id="88" name="Text 18">
              <a:extLst>
                <a:ext uri="{FF2B5EF4-FFF2-40B4-BE49-F238E27FC236}">
                  <a16:creationId xmlns:a16="http://schemas.microsoft.com/office/drawing/2014/main" id="{F0A00024-7FCE-DFF5-199E-29C5883DBAE9}"/>
                </a:ext>
              </a:extLst>
            </p:cNvPr>
            <p:cNvSpPr/>
            <p:nvPr/>
          </p:nvSpPr>
          <p:spPr>
            <a:xfrm>
              <a:off x="1828800" y="3474720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5B647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↺ 근거 불충분 시 검색어를 스스로 재구성해 재검색 (MAX 8회)</a:t>
              </a:r>
              <a:endParaRPr lang="en-US" sz="800" dirty="0"/>
            </a:p>
          </p:txBody>
        </p:sp>
        <p:sp>
          <p:nvSpPr>
            <p:cNvPr id="89" name="Shape 19">
              <a:extLst>
                <a:ext uri="{FF2B5EF4-FFF2-40B4-BE49-F238E27FC236}">
                  <a16:creationId xmlns:a16="http://schemas.microsoft.com/office/drawing/2014/main" id="{933183DF-799A-67DF-AAB7-E93027DC3538}"/>
                </a:ext>
              </a:extLst>
            </p:cNvPr>
            <p:cNvSpPr/>
            <p:nvPr/>
          </p:nvSpPr>
          <p:spPr>
            <a:xfrm>
              <a:off x="5312664" y="2240280"/>
              <a:ext cx="237744" cy="0"/>
            </a:xfrm>
            <a:prstGeom prst="line">
              <a:avLst/>
            </a:prstGeom>
            <a:noFill/>
            <a:ln w="19050">
              <a:solidFill>
                <a:srgbClr val="5B647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Shape 20">
              <a:extLst>
                <a:ext uri="{FF2B5EF4-FFF2-40B4-BE49-F238E27FC236}">
                  <a16:creationId xmlns:a16="http://schemas.microsoft.com/office/drawing/2014/main" id="{C8706E6C-D66A-EDCA-4B11-4F49CCD54C63}"/>
                </a:ext>
              </a:extLst>
            </p:cNvPr>
            <p:cNvSpPr/>
            <p:nvPr/>
          </p:nvSpPr>
          <p:spPr>
            <a:xfrm>
              <a:off x="5568696" y="1280160"/>
              <a:ext cx="1572768" cy="1920240"/>
            </a:xfrm>
            <a:prstGeom prst="roundRect">
              <a:avLst>
                <a:gd name="adj" fmla="val 2907"/>
              </a:avLst>
            </a:prstGeom>
            <a:solidFill>
              <a:srgbClr val="FDF1E2"/>
            </a:solidFill>
            <a:ln w="12700">
              <a:solidFill>
                <a:srgbClr val="C46A1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Text 21">
              <a:extLst>
                <a:ext uri="{FF2B5EF4-FFF2-40B4-BE49-F238E27FC236}">
                  <a16:creationId xmlns:a16="http://schemas.microsoft.com/office/drawing/2014/main" id="{9C4EB994-6238-80A5-A271-41FD441ADDA5}"/>
                </a:ext>
              </a:extLst>
            </p:cNvPr>
            <p:cNvSpPr/>
            <p:nvPr/>
          </p:nvSpPr>
          <p:spPr>
            <a:xfrm>
              <a:off x="5568696" y="1280160"/>
              <a:ext cx="1572768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1050" b="1" dirty="0">
                  <a:solidFill>
                    <a:srgbClr val="C46A1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③ risk
</a:t>
              </a:r>
              <a:r>
                <a:rPr lang="en-US" sz="700" dirty="0">
                  <a:solidFill>
                    <a:srgbClr val="5B647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(결정론적 · LLM 재량 밖)
</a:t>
              </a:r>
              <a:r>
                <a:rPr lang="en-US" sz="750" dirty="0">
                  <a:solidFill>
                    <a:srgbClr val="1F24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근거강도 LOW</a:t>
              </a:r>
              <a:endParaRPr lang="en-US" sz="1050" dirty="0"/>
            </a:p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750" dirty="0">
                  <a:solidFill>
                    <a:srgbClr val="1F24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추천 DENY</a:t>
              </a:r>
              <a:endParaRPr lang="en-US" sz="1050" dirty="0"/>
            </a:p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750" dirty="0">
                  <a:solidFill>
                    <a:srgbClr val="1F24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추천 ADDITIONAL_REVIEW</a:t>
              </a:r>
              <a:endParaRPr lang="en-US" sz="1050" dirty="0"/>
            </a:p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750" dirty="0">
                  <a:solidFill>
                    <a:srgbClr val="1F24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근거강도 MEDIUM 이하</a:t>
              </a:r>
              <a:endParaRPr lang="en-US" sz="1050" dirty="0"/>
            </a:p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750" dirty="0">
                  <a:solidFill>
                    <a:srgbClr val="1F24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외부참고자료 사용</a:t>
              </a:r>
              <a:endParaRPr lang="en-US" sz="1050" dirty="0"/>
            </a:p>
          </p:txBody>
        </p:sp>
        <p:sp>
          <p:nvSpPr>
            <p:cNvPr id="92" name="Shape 22">
              <a:extLst>
                <a:ext uri="{FF2B5EF4-FFF2-40B4-BE49-F238E27FC236}">
                  <a16:creationId xmlns:a16="http://schemas.microsoft.com/office/drawing/2014/main" id="{9A622CD5-45E6-DDDD-5B5D-EE97985CC913}"/>
                </a:ext>
              </a:extLst>
            </p:cNvPr>
            <p:cNvSpPr/>
            <p:nvPr/>
          </p:nvSpPr>
          <p:spPr>
            <a:xfrm>
              <a:off x="7141464" y="2240280"/>
              <a:ext cx="237744" cy="0"/>
            </a:xfrm>
            <a:prstGeom prst="line">
              <a:avLst/>
            </a:prstGeom>
            <a:noFill/>
            <a:ln w="19050">
              <a:solidFill>
                <a:srgbClr val="5B647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3" name="Shape 23">
              <a:extLst>
                <a:ext uri="{FF2B5EF4-FFF2-40B4-BE49-F238E27FC236}">
                  <a16:creationId xmlns:a16="http://schemas.microsoft.com/office/drawing/2014/main" id="{DDA02B5C-B1AC-F5D8-CA19-45B6748B3F77}"/>
                </a:ext>
              </a:extLst>
            </p:cNvPr>
            <p:cNvSpPr/>
            <p:nvPr/>
          </p:nvSpPr>
          <p:spPr>
            <a:xfrm>
              <a:off x="7397496" y="1280160"/>
              <a:ext cx="1371600" cy="1920240"/>
            </a:xfrm>
            <a:prstGeom prst="roundRect">
              <a:avLst>
                <a:gd name="adj" fmla="val 3333"/>
              </a:avLst>
            </a:prstGeom>
            <a:solidFill>
              <a:srgbClr val="FBEAE7"/>
            </a:solidFill>
            <a:ln w="12700">
              <a:solidFill>
                <a:srgbClr val="B3402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Text 24">
              <a:extLst>
                <a:ext uri="{FF2B5EF4-FFF2-40B4-BE49-F238E27FC236}">
                  <a16:creationId xmlns:a16="http://schemas.microsoft.com/office/drawing/2014/main" id="{9552CDF7-2305-0773-CA0E-74E3CC672246}"/>
                </a:ext>
              </a:extLst>
            </p:cNvPr>
            <p:cNvSpPr/>
            <p:nvPr/>
          </p:nvSpPr>
          <p:spPr>
            <a:xfrm>
              <a:off x="7397496" y="1280160"/>
              <a:ext cx="137160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1050" b="1" dirty="0">
                  <a:solidFill>
                    <a:srgbClr val="B3402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④ hitl
</a:t>
              </a:r>
              <a:r>
                <a:rPr lang="en-US" sz="750" dirty="0">
                  <a:solidFill>
                    <a:srgbClr val="5B647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interrupt()
</a:t>
              </a:r>
              <a:r>
                <a:rPr lang="en-US" sz="750" dirty="0">
                  <a:solidFill>
                    <a:srgbClr val="1F24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조건 해당 시 심사역
승인 대기
ACCEPT / MODIFY
/ REJECT
</a:t>
              </a:r>
              <a:r>
                <a:rPr lang="en-US" sz="700" dirty="0">
                  <a:solidFill>
                    <a:srgbClr val="5B647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조건 미해당 → AUTO_PASS</a:t>
              </a:r>
              <a:endParaRPr lang="en-US" sz="1050" dirty="0"/>
            </a:p>
          </p:txBody>
        </p:sp>
        <p:sp>
          <p:nvSpPr>
            <p:cNvPr id="95" name="Shape 25">
              <a:extLst>
                <a:ext uri="{FF2B5EF4-FFF2-40B4-BE49-F238E27FC236}">
                  <a16:creationId xmlns:a16="http://schemas.microsoft.com/office/drawing/2014/main" id="{B244699C-92D6-E7B3-1689-C5974D85B79F}"/>
                </a:ext>
              </a:extLst>
            </p:cNvPr>
            <p:cNvSpPr/>
            <p:nvPr/>
          </p:nvSpPr>
          <p:spPr>
            <a:xfrm>
              <a:off x="8083296" y="3200400"/>
              <a:ext cx="0" cy="502920"/>
            </a:xfrm>
            <a:prstGeom prst="line">
              <a:avLst/>
            </a:prstGeom>
            <a:noFill/>
            <a:ln w="19050">
              <a:solidFill>
                <a:srgbClr val="5B647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6" name="Shape 26">
              <a:extLst>
                <a:ext uri="{FF2B5EF4-FFF2-40B4-BE49-F238E27FC236}">
                  <a16:creationId xmlns:a16="http://schemas.microsoft.com/office/drawing/2014/main" id="{CFD22653-A830-FCFC-3459-DC45C60D5923}"/>
                </a:ext>
              </a:extLst>
            </p:cNvPr>
            <p:cNvSpPr/>
            <p:nvPr/>
          </p:nvSpPr>
          <p:spPr>
            <a:xfrm>
              <a:off x="5120640" y="3721608"/>
              <a:ext cx="3657600" cy="658368"/>
            </a:xfrm>
            <a:prstGeom prst="roundRect">
              <a:avLst>
                <a:gd name="adj" fmla="val 6944"/>
              </a:avLst>
            </a:prstGeom>
            <a:solidFill>
              <a:srgbClr val="F1F3F7"/>
            </a:solidFill>
            <a:ln w="12700">
              <a:solidFill>
                <a:srgbClr val="6B72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7" name="Text 27">
              <a:extLst>
                <a:ext uri="{FF2B5EF4-FFF2-40B4-BE49-F238E27FC236}">
                  <a16:creationId xmlns:a16="http://schemas.microsoft.com/office/drawing/2014/main" id="{5AC92891-E9EB-A349-5FC8-43B7382E3BBA}"/>
                </a:ext>
              </a:extLst>
            </p:cNvPr>
            <p:cNvSpPr/>
            <p:nvPr/>
          </p:nvSpPr>
          <p:spPr>
            <a:xfrm>
              <a:off x="5120640" y="3721608"/>
              <a:ext cx="365760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F243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⑤ log — 감사로그 저장
</a:t>
              </a:r>
              <a:r>
                <a:rPr lang="en-US" sz="750" dirty="0">
                  <a:solidFill>
                    <a:srgbClr val="5B647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(input / output / HITL여부 / 승인결과 / 외부참고자료)</a:t>
              </a:r>
              <a:endParaRPr lang="en-US" sz="950" dirty="0"/>
            </a:p>
          </p:txBody>
        </p:sp>
        <p:sp>
          <p:nvSpPr>
            <p:cNvPr id="98" name="Shape 28">
              <a:extLst>
                <a:ext uri="{FF2B5EF4-FFF2-40B4-BE49-F238E27FC236}">
                  <a16:creationId xmlns:a16="http://schemas.microsoft.com/office/drawing/2014/main" id="{34336853-7FE8-5866-4C93-417A856C3632}"/>
                </a:ext>
              </a:extLst>
            </p:cNvPr>
            <p:cNvSpPr/>
            <p:nvPr/>
          </p:nvSpPr>
          <p:spPr>
            <a:xfrm>
              <a:off x="2788920" y="4050792"/>
              <a:ext cx="2331720" cy="0"/>
            </a:xfrm>
            <a:prstGeom prst="line">
              <a:avLst/>
            </a:prstGeom>
            <a:noFill/>
            <a:ln w="19050">
              <a:solidFill>
                <a:srgbClr val="5B6478"/>
              </a:solidFill>
              <a:prstDash val="solid"/>
              <a:head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9" name="Shape 29">
              <a:extLst>
                <a:ext uri="{FF2B5EF4-FFF2-40B4-BE49-F238E27FC236}">
                  <a16:creationId xmlns:a16="http://schemas.microsoft.com/office/drawing/2014/main" id="{B1AA7965-ACAE-0CF8-085C-71ECC2B3ED2E}"/>
                </a:ext>
              </a:extLst>
            </p:cNvPr>
            <p:cNvSpPr/>
            <p:nvPr/>
          </p:nvSpPr>
          <p:spPr>
            <a:xfrm>
              <a:off x="640080" y="3721608"/>
              <a:ext cx="2148840" cy="658368"/>
            </a:xfrm>
            <a:prstGeom prst="roundRect">
              <a:avLst>
                <a:gd name="adj" fmla="val 6944"/>
              </a:avLst>
            </a:prstGeom>
            <a:solidFill>
              <a:srgbClr val="EEF4FE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0" name="Text 30">
              <a:extLst>
                <a:ext uri="{FF2B5EF4-FFF2-40B4-BE49-F238E27FC236}">
                  <a16:creationId xmlns:a16="http://schemas.microsoft.com/office/drawing/2014/main" id="{F437451F-4E3C-2106-8765-840F5A1D6AC6}"/>
                </a:ext>
              </a:extLst>
            </p:cNvPr>
            <p:cNvSpPr/>
            <p:nvPr/>
          </p:nvSpPr>
          <p:spPr>
            <a:xfrm>
              <a:off x="640080" y="3721608"/>
              <a:ext cx="21488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E276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⑥ 결과 화면 표시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rgbClr val="1E276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(심사역: 근거·결정 확인)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 — 5계층 구조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— 오케스트레이션(LangGraph) — 모델·도구(gpt-4o-mini + 5 tools) — 데이터·저장(pgvector, 감사로그) — 거버넌스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DAE50401-6EA2-E0E8-D541-E3D6E9864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02" y="901373"/>
            <a:ext cx="7548196" cy="38169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Human-in-the-loop 설계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 발동 조건과 좁은 자동 통과 조건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2161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판례가 없거나 관련성이 낮을 때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929384"/>
            <a:ext cx="365760" cy="36576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20824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19110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참고의견이 ‘반려’(소비자 불리) 방향일 때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200" y="2624328"/>
            <a:ext cx="365760" cy="36576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1576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26060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근거강도 점수가 임계치 이하일 때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3319272"/>
            <a:ext cx="365760" cy="36576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410712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2688" y="330098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추천이 ‘추가검토 필요’일 때 — 근거강도와 </a:t>
            </a:r>
            <a:r>
              <a:rPr lang="en-US" sz="115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무관하게</a:t>
            </a: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57200" y="4014216"/>
            <a:ext cx="365760" cy="36576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10565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32688" y="39959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웹검색 결과가 하나라도 사용된 경우 — 외부자료는 무조건 사람 확인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440680" y="123444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/>
          <p:nvPr/>
        </p:nvSpPr>
        <p:spPr>
          <a:xfrm>
            <a:off x="5678424" y="14173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통과는 오직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678424" y="169164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+ APPROVE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웹검색 미사용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5678424" y="2487168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조건의 교집합만 통과하는 보수적 게이트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440680" y="3127248"/>
            <a:ext cx="324612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5678424" y="327355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678424" y="3566160"/>
            <a:ext cx="2770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interrupt() + checkpointer로 멈춤·재개. 심사역이 ACCEPT / MODIFY / REJECT 입력 시 보존된 상태 그대로 재개 → 감사로그 저장.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요소 및 통제 방안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7919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365760" cy="36576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6304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40817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인용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1810512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자기신고를 불신 — case_id_validator가 실제 검색 여부·CRAG 통과 여부를 서버 측 이중 검증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73552" y="1188720"/>
            <a:ext cx="267919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474720" y="1371600"/>
            <a:ext cx="365760" cy="36576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4630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40817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474720" y="1810512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질병정보 등 민감정보 — 비식별화 확인, 최소 권한 원칙의 접근 통제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89904" y="1188720"/>
            <a:ext cx="267919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291072" y="1371600"/>
            <a:ext cx="365760" cy="36576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46304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48272" y="140817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편향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291072" y="1810512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판례가 부족하면 억지 답변 대신 ‘판례 부족, 사람 판단 필요’로 명시적 기권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3035808"/>
            <a:ext cx="267919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658368" y="3218688"/>
            <a:ext cx="365760" cy="36576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310128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25526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소재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58368" y="3657600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Agent는 참고자료 제공까지 — 최종 지급결정 책임은 심사역·보험사에 있음을 명시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73552" y="3035808"/>
            <a:ext cx="267919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3474720" y="3218688"/>
            <a:ext cx="365760" cy="36576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310128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31920" y="325526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정보 신뢰도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3474720" y="3657600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웹검색은 신뢰 도메인 제한 + 근거강도 미반영 + 사용 시 무조건 HITL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089904" y="3035808"/>
            <a:ext cx="267919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2"/>
          <p:cNvSpPr/>
          <p:nvPr/>
        </p:nvSpPr>
        <p:spPr>
          <a:xfrm>
            <a:off x="6291072" y="3218688"/>
            <a:ext cx="365760" cy="365760"/>
          </a:xfrm>
          <a:prstGeom prst="ellipse">
            <a:avLst/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310128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48272" y="325526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회피 공백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291072" y="3657600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추천이 ‘추가검토 필요’면 근거강도 무관 HITL 강제 — 프로토타입 실행 검증에서 발견·수정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 — 프로토타입 실측 결과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OCI VM에서 총 40회 end-to-end 실행 · 감사로그 SQL 집계 (자체 테스트 기준)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7919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3619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0704" y="1408176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76656" y="2029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(Precision)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6656" y="23042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950" dirty="0"/>
              <a:t>정식 </a:t>
            </a:r>
            <a:r>
              <a:rPr lang="ko-KR" altLang="en-US" sz="950" dirty="0" err="1"/>
              <a:t>골드셋</a:t>
            </a:r>
            <a:r>
              <a:rPr lang="ko-KR" altLang="en-US" sz="950" dirty="0"/>
              <a:t> 기반이 아닌</a:t>
            </a:r>
            <a:r>
              <a:rPr lang="en-US" altLang="ko-KR" sz="950" dirty="0"/>
              <a:t>, </a:t>
            </a:r>
            <a:r>
              <a:rPr lang="ko-KR" altLang="en-US" sz="950" dirty="0"/>
              <a:t>수동 평가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73552" y="1298448"/>
            <a:ext cx="267919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53619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77056" y="1408176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3493008" y="2029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rate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93008" y="23042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시도 30건 중 validator 반려 0건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89904" y="1298448"/>
            <a:ext cx="267919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3619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93408" y="1408176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82.6%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6309360" y="2029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달성률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09360" y="23042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 4건 = 전부 코퍼스 0건 쟁점 → 기권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7919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325526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60704" y="3127248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10.7초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676656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Avg latency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76656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응답 1.4초 · p95 15.2초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73552" y="3017520"/>
            <a:ext cx="267919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25526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77056" y="3127248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$0.0018</a:t>
            </a:r>
            <a:endParaRPr lang="en-US" sz="2800" dirty="0"/>
          </a:p>
        </p:txBody>
      </p:sp>
      <p:sp>
        <p:nvSpPr>
          <p:cNvPr id="27" name="Text 20"/>
          <p:cNvSpPr/>
          <p:nvPr/>
        </p:nvSpPr>
        <p:spPr>
          <a:xfrm>
            <a:off x="3493008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cost / 케이스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93008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10.7k · 출력 0.4k 토큰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89904" y="3017520"/>
            <a:ext cx="267919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255264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93408" y="3127248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7.5%</a:t>
            </a:r>
            <a:endParaRPr lang="en-US" sz="2800" dirty="0"/>
          </a:p>
        </p:txBody>
      </p:sp>
      <p:sp>
        <p:nvSpPr>
          <p:cNvPr id="32" name="Text 24"/>
          <p:cNvSpPr/>
          <p:nvPr/>
        </p:nvSpPr>
        <p:spPr>
          <a:xfrm>
            <a:off x="6309360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override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0936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개입률 97.5% 중 수정·기각 3건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97.5%는 결함이 아니라 애매한 건만 입력한 테스트에서 보수적 게이트가 의도대로 작동한 결과 — 효율 기여는 자동 승인이 아닌 ‘근거 탐색 10초’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→ 개선 → 재검증 — 조기 기권 가드레일 (v5)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실측에서 발견한 비효율을 결정론적 규칙으로 해결 · 보고서 12.6 재검증 완료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3977640" cy="3246120"/>
          </a:xfrm>
          <a:prstGeom prst="roundRect">
            <a:avLst>
              <a:gd name="adj" fmla="val 1690"/>
            </a:avLst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실측에서</a:t>
            </a: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70078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코퍼스에 관련 사례가 없는 쟁점 4건이 최대 반복 횟수(8회)를 모두 소진하며 재검색만 반복 — latency·토큰 약 2배 낭비 후에야 기권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추가한 규칙 (LLM 재량 밖)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889504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3회 + 관련성 재검증 2회를 시도하고도 통과 사례 누적 0건이면 즉시 기권 종료. 기권 후에도 HITL 게이트는 그대로 발동 — 생략되는 것은 사람 확인이 아니라 낭비되는 재검색뿐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기권 문구도 '결론을 내지 못함'(수동적 실패) → 'N회 시도, 통과 0건 — 조기 기권'(근거 있는 판단)으로 개선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26280" y="1371600"/>
            <a:ext cx="141732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26280" y="1371600"/>
            <a:ext cx="141732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96012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0" y="137160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03720" y="1371600"/>
            <a:ext cx="132588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903720" y="137160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후 (v5)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1371600"/>
            <a:ext cx="68580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0" y="13716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193852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26280" y="1938528"/>
            <a:ext cx="141732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latency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19385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43600" y="19385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14.4초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1938528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903720" y="19385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938528"/>
            <a:ext cx="685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229600" y="193852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−35%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26280" y="2505456"/>
            <a:ext cx="1417320" cy="566928"/>
          </a:xfrm>
          <a:prstGeom prst="rect">
            <a:avLst/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26280" y="2505456"/>
            <a:ext cx="141732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입력 토큰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2505456"/>
            <a:ext cx="960120" cy="566928"/>
          </a:xfrm>
          <a:prstGeom prst="rect">
            <a:avLst/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43600" y="250545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20,313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2505456"/>
            <a:ext cx="1325880" cy="566928"/>
          </a:xfrm>
          <a:prstGeom prst="rect">
            <a:avLst/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903720" y="250545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10,129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0" y="2505456"/>
            <a:ext cx="685800" cy="566928"/>
          </a:xfrm>
          <a:prstGeom prst="rect">
            <a:avLst/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229600" y="250545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−50%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26280" y="3072384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26280" y="3072384"/>
            <a:ext cx="141732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케이스당 비용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3072384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43600" y="307238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$0.0033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03720" y="3072384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903720" y="307238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$0.0017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0" y="3072384"/>
            <a:ext cx="685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229600" y="307238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−50%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26280" y="3639312"/>
            <a:ext cx="1417320" cy="566928"/>
          </a:xfrm>
          <a:prstGeom prst="rect">
            <a:avLst/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26280" y="3639312"/>
            <a:ext cx="141732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0" y="3639312"/>
            <a:ext cx="960120" cy="566928"/>
          </a:xfrm>
          <a:prstGeom prst="rect">
            <a:avLst/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943600" y="363931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기권 4/4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03720" y="3639312"/>
            <a:ext cx="1325880" cy="566928"/>
          </a:xfrm>
          <a:prstGeom prst="rect">
            <a:avLst/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903720" y="36393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기권 4/4 · 오발동 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229600" y="3639312"/>
            <a:ext cx="685800" cy="566928"/>
          </a:xfrm>
          <a:prstGeom prst="rect">
            <a:avLst/>
          </a:prstGeom>
          <a:solidFill>
            <a:srgbClr val="EEF4FE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8229600" y="363931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26280" y="4315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기권 케이스(코퍼스 무관 쟁점 4건) 재실행 실측 · 감사로그 SQL 집계 (before_after.sql)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— 실제 실행 기반 3개 시나리오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찾은 경우 · 잘못 찾은 경우 · 못 찾은 경우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310896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5389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417320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정상 인용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" y="1856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치료·미용 목적 혼재 실손 청구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76656" y="2368296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5건 → CRAG 3건 → 이중검증 → 근거강도 HIGH → 판례 3건 제시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76656" y="3355848"/>
            <a:ext cx="2240280" cy="329184"/>
          </a:xfrm>
          <a:prstGeom prst="roundRect">
            <a:avLst>
              <a:gd name="adj" fmla="val 13889"/>
            </a:avLst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76656" y="33558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심사역 ACCEPT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" y="37764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검색-재검증-검증 파이프라인 작동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3552" y="1234440"/>
            <a:ext cx="2679192" cy="310896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45389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417320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 오류 방어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93008" y="1856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음주운전 면책 조항 쟁점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93008" y="2368296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키워드만 유사한 구상권 판례(FSS-0182)가 CRAG를 통과해 인용됨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493008" y="3355848"/>
            <a:ext cx="2240280" cy="329184"/>
          </a:xfrm>
          <a:prstGeom prst="roundRect">
            <a:avLst>
              <a:gd name="adj" fmla="val 13889"/>
            </a:avLst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3493008" y="33558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심사역 REJECT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93008" y="37764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HITL이 잔여 오류의 안전망으로 실제 작동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89904" y="1234440"/>
            <a:ext cx="2679192" cy="310896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45389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56832" y="1417320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 정직한 기권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09360" y="1856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도수치료 반복 청구 (코퍼스 0건)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309360" y="2368296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재검색 반복 후 ‘판례 부족, 사람 판단 필요’ 출력 — 억지 답변 없음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309360" y="3355848"/>
            <a:ext cx="2240280" cy="329184"/>
          </a:xfrm>
          <a:prstGeom prst="roundRect">
            <a:avLst>
              <a:gd name="adj" fmla="val 13889"/>
            </a:avLst>
          </a:prstGeom>
          <a:solidFill>
            <a:srgbClr val="EEF4FE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6309360" y="33558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심사역 ACCEPT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09360" y="37764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억지 답변 방지 통제의 실증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경우 모두에서 최종 판단은 심사역에게 — ‘참고자료 제공, 결정 비대체’ 원칙의 일관된 유지</a:t>
            </a:r>
            <a:endParaRPr lang="en-US" sz="1150" dirty="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36F1156D-936F-6B31-1868-23BCB4991285}"/>
              </a:ext>
            </a:extLst>
          </p:cNvPr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효과와 한계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86200" cy="2651760"/>
          </a:xfrm>
          <a:prstGeom prst="roundRect">
            <a:avLst>
              <a:gd name="adj" fmla="val 2069"/>
            </a:avLst>
          </a:prstGeom>
          <a:solidFill>
            <a:srgbClr val="2B3A7A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애매한 청구 건의 근거 탐색 시간 단축 — 수작업 대신 케이스당 약 10초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조정 기준 참고를 통한 심사역 간 판단 일관성 제고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감사로그 축적 → 심사 기준 표준화·문서화의 데이터 자산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886200" cy="2651760"/>
          </a:xfrm>
          <a:prstGeom prst="roundRect">
            <a:avLst>
              <a:gd name="adj" fmla="val 2069"/>
            </a:avLst>
          </a:prstGeom>
          <a:solidFill>
            <a:srgbClr val="2B3A7A"/>
          </a:solidFill>
          <a:ln w="9525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 160건 — 쟁점 유형별 커버리지 제한 (조기 기권 규칙 등 개선 과제 도출)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실측은 자체 테스트 참고치 — 골드셋·실제 심사역 파일럿 필요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규정·법무 검토·감독당국 협의 등 기술 외적 절차 별도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</a:t>
            </a:r>
            <a:r>
              <a:rPr lang="en-US" sz="17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결정하는 시스템이 아니라, 사람의 판단을 근거로 </a:t>
            </a:r>
            <a:r>
              <a:rPr lang="en-US" sz="1700" b="1" i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뒷받침하는</a:t>
            </a:r>
            <a:r>
              <a:rPr lang="en-US" sz="17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i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100" dirty="0"/>
          </a:p>
        </p:txBody>
      </p:sp>
      <p:sp>
        <p:nvSpPr>
          <p:cNvPr id="12" name="Text 49">
            <a:extLst>
              <a:ext uri="{FF2B5EF4-FFF2-40B4-BE49-F238E27FC236}">
                <a16:creationId xmlns:a16="http://schemas.microsoft.com/office/drawing/2014/main" id="{9C501C05-A893-2FDC-36FF-6A7F0AB1C21E}"/>
              </a:ext>
            </a:extLst>
          </p:cNvPr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1806</Words>
  <Application>Microsoft Office PowerPoint</Application>
  <PresentationFormat>화면 슬라이드 쇼(16:9)</PresentationFormat>
  <Paragraphs>257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ClaimPrecedent — 보험 지급심사 보조 AI Agent</dc:title>
  <dc:subject>PptxGenJS Presentation</dc:subject>
  <dc:creator>문예준</dc:creator>
  <cp:lastModifiedBy>문예준</cp:lastModifiedBy>
  <cp:revision>10</cp:revision>
  <dcterms:created xsi:type="dcterms:W3CDTF">2026-07-07T05:44:51Z</dcterms:created>
  <dcterms:modified xsi:type="dcterms:W3CDTF">2026-07-08T18:32:14Z</dcterms:modified>
</cp:coreProperties>
</file>